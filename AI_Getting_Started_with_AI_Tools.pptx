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1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60" y="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4122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4114800" cy="41148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2743200"/>
            <a:ext cx="2743200" cy="274320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Coding Tool</a:t>
            </a:r>
            <a:r>
              <a:rPr lang="en-US" altLang="zh-CN" sz="48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Prompt to Harness Engineering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2286000" cy="0"/>
          </a:xfrm>
          <a:prstGeom prst="line">
            <a:avLst/>
          </a:prstGeom>
          <a:noFill/>
          <a:ln w="38100">
            <a:solidFill>
              <a:srgbClr val="14B8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1089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Knowledge + Live Demo with Windsurf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914400"/>
            <a:ext cx="3200400" cy="32004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Harness Engineering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"Driving AI" to "Equipping AI"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560320" cy="25603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2011680"/>
            <a:ext cx="731520" cy="73152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246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Riding a horse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instructions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46120" y="21031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4A3B8"/>
                </a:solidFill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3520440" y="1828800"/>
            <a:ext cx="2560320" cy="25603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" name="Shape 10"/>
          <p:cNvSpPr/>
          <p:nvPr/>
        </p:nvSpPr>
        <p:spPr>
          <a:xfrm>
            <a:off x="4434840" y="2011680"/>
            <a:ext cx="731520" cy="73152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443484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70332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03320" y="3246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a carriage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Providing context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26480" y="21031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4A3B8"/>
                </a:solidFill>
              </a:rPr>
              <a:t>→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6400800" y="1828800"/>
            <a:ext cx="2560320" cy="2560320"/>
          </a:xfrm>
          <a:prstGeom prst="rect">
            <a:avLst/>
          </a:prstGeom>
          <a:solidFill>
            <a:srgbClr val="14B8A6">
              <a:alpha val="2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0" y="2011680"/>
            <a:ext cx="731520" cy="73152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58368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Engineering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3246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car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AI dev system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engineer's role shifts from "writing code" to "designing AI behavior specs and toolchains"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Prompt Engineering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requirements in natural language, let AI generate code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47548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20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Quality = Output Quality</a:t>
            </a:r>
            <a:endParaRPr lang="en-US" sz="2000" dirty="0"/>
          </a:p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requirements lead to accurate code generation</a:t>
            </a:r>
            <a:endParaRPr lang="en-US" sz="20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Patterns</a:t>
            </a:r>
            <a:endParaRPr lang="en-US" sz="20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Single-shot: One prompt, one response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Multi-turn: Iterative refinement through conversation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No project context, not reusable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943600" y="1554480"/>
            <a:ext cx="274320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0" y="1554480"/>
            <a:ext cx="27432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Single-shot Example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2240280"/>
            <a:ext cx="2194560" cy="20116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2286000"/>
            <a:ext cx="20116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"Write a function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parse logs"</a:t>
            </a:r>
            <a:endParaRPr lang="en-US" sz="10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context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quality guarantee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Engineering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prompts — give AI the full project context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65176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265176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/ Memory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85800" y="22402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instructions and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memory. AI always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your preferences.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91840" y="1554480"/>
            <a:ext cx="265176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554480"/>
            <a:ext cx="265176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352044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Structure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20440" y="22402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tree, codebase context.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understands the full picture,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fragments.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0" y="1554480"/>
            <a:ext cx="265176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554480"/>
            <a:ext cx="265176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Integration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355080" y="22402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LSP, Git.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can execute and verify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directly.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PE: Tell AI what to do   →   CE: Let AI understand the environment   →   HE: Equip AI with executable capabilities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Rules — Project-Level Instructions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Auto-injected context files that keep AI aligned with your standards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47548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8229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508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56032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active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Auto-injected into every conversation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47548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468880"/>
            <a:ext cx="64008" cy="8229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514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560320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User-triggered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Activated via explicit command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474720"/>
            <a:ext cx="47548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474720"/>
            <a:ext cx="64008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20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560320" y="35204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pulls it in when it detects relevance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60720" y="1463040"/>
            <a:ext cx="3017520" cy="3200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0" y="1600200"/>
            <a:ext cx="2651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.devin/rules/logdash.md</a:t>
            </a:r>
            <a:endParaRPr lang="en-US" sz="1100" dirty="0"/>
          </a:p>
          <a:p>
            <a:pPr marL="0" indent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trigger: always_on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marL="0" indent="0">
              <a:buNone/>
            </a:pPr>
            <a:r>
              <a:rPr lang="en-US" sz="3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Coding Standard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 C99 standard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Naming: snake_case</a:t>
            </a:r>
            <a:endParaRPr lang="en-US" sz="1100" dirty="0"/>
          </a:p>
          <a:p>
            <a:pPr marL="0" indent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Compiler Flags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gcc -Wall -Wextra</a:t>
            </a:r>
            <a:endParaRPr lang="en-US" sz="1100" dirty="0"/>
          </a:p>
          <a:p>
            <a:pPr marL="0" indent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Test Requirements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module needs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corresponding unit tests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Rules Demo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120700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.devin/rules/logdash.md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coding standards + compiler flags + trigger mode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45820" y="1645920"/>
            <a:ext cx="0" cy="32004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01168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198424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AI what you need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a log parsing function"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45820" y="2423160"/>
            <a:ext cx="0" cy="32004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8892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88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276148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rule-compliant code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Naming, comments, compile flags all followed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45820" y="3200400"/>
            <a:ext cx="0" cy="32004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6616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353872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With vs Without Rules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and consistency difference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760720" y="1188720"/>
            <a:ext cx="3017520" cy="1508760"/>
          </a:xfrm>
          <a:prstGeom prst="rect">
            <a:avLst/>
          </a:prstGeom>
          <a:solidFill>
            <a:srgbClr val="FFF1F2"/>
          </a:solidFill>
          <a:ln/>
        </p:spPr>
      </p:sp>
      <p:sp>
        <p:nvSpPr>
          <p:cNvPr id="20" name="Shape 18"/>
          <p:cNvSpPr/>
          <p:nvPr/>
        </p:nvSpPr>
        <p:spPr>
          <a:xfrm>
            <a:off x="5760720" y="1188720"/>
            <a:ext cx="301752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0" y="1325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Rules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943600" y="16459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naming, no comments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errors, no tests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760720" y="2880360"/>
            <a:ext cx="3017520" cy="150876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0720" y="2880360"/>
            <a:ext cx="3017520" cy="4572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5" name="Text 23"/>
          <p:cNvSpPr/>
          <p:nvPr/>
        </p:nvSpPr>
        <p:spPr>
          <a:xfrm>
            <a:off x="5943600" y="3017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Rules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943600" y="33375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style, full comments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compile errors, test-ready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Create .devin/rules/logdash.md in Windsurf and show how Rules directly impact code generation quality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— Reusable AI Experts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= Domain Knowledge + Automated Workflow = Professional AI Agent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411480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Components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68680" y="2157984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21031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31720" y="2103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Encapsulates domain best practices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2724912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1234440" y="267004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331720" y="26700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steps and state management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68680" y="3291840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323697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331720" y="323697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auto-activate or manually invoke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68680" y="3858768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1234440" y="380390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331720" y="380390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input parameters and output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03520" y="1463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vs Skills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303520" y="1920240"/>
            <a:ext cx="3383280" cy="10058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1" name="Shape 19"/>
          <p:cNvSpPr/>
          <p:nvPr/>
        </p:nvSpPr>
        <p:spPr>
          <a:xfrm>
            <a:off x="5303520" y="1920240"/>
            <a:ext cx="54864" cy="100584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0" y="201168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constraints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boundaries and norms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03520" y="3200400"/>
            <a:ext cx="338328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303520" y="3200400"/>
            <a:ext cx="54864" cy="1280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0" y="329184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execution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like an expert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and composable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Demo — Three Modular Skills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74320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97280"/>
            <a:ext cx="27432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01168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generation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specs from specs/ folder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+ AI review + user approval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generate C code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0" y="1097280"/>
            <a:ext cx="274320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097280"/>
            <a:ext cx="27432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47472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201168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Compilation verification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gcc with project flags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success or errors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fixes on failure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26480" y="1097280"/>
            <a:ext cx="274320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097280"/>
            <a:ext cx="27432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40080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201168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execution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test to run all tests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pass/fail counts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failing assertions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74320" y="4480560"/>
            <a:ext cx="8595360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389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.devin/skills/</a:t>
            </a:r>
            <a:r>
              <a:rPr lang="en-US" sz="10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dev/SKILL.md</a:t>
            </a:r>
            <a:r>
              <a:rPr lang="en-US" sz="10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build/SKILL.md</a:t>
            </a: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test/SKILL.md</a:t>
            </a: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specs/</a:t>
            </a: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*.md  (spec docs read by dev)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Workflows — Process Orchestration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automation with state passing, conditional branching, and loops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560320" cy="10972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002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Single-purpose expert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responsibility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74720" y="1463040"/>
            <a:ext cx="25603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0" y="1463040"/>
            <a:ext cx="54864" cy="1097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16002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multiple steps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Stateful, branching pipeline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Workflow Pipeline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Change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874520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084832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2084832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19272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529584" y="3337560"/>
            <a:ext cx="1234440" cy="54864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3529584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Fail→Fix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64024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974336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974336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08776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19088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19088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Integ. Test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653528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863840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0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4114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40080" y="4526280"/>
            <a:ext cx="192024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526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788920" y="4526280"/>
            <a:ext cx="192024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2788920" y="4526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 Flow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37760" y="4526280"/>
            <a:ext cx="192024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937760" y="4526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Multi-Env Deploy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086600" y="4526280"/>
            <a:ext cx="192024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7086600" y="4526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ETL Pipeline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Workflows Demo — Orchestrating Skills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54864" cy="5486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97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Workflow: ci-pipeline  →  calls  dev  →  build  →  test  with state passing and conditional branching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12064" y="1714500"/>
            <a:ext cx="1554480" cy="5943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" y="17145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80944" y="1714500"/>
            <a:ext cx="1554480" cy="5943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2980944" y="17145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72634" y="1722282"/>
            <a:ext cx="1554480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634" y="17145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187184" y="1714500"/>
            <a:ext cx="1554480" cy="5943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7187184" y="17145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980944" y="2720340"/>
            <a:ext cx="1554480" cy="59436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6" name="Text 14"/>
          <p:cNvSpPr/>
          <p:nvPr/>
        </p:nvSpPr>
        <p:spPr>
          <a:xfrm>
            <a:off x="2980944" y="27203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95494" y="2720340"/>
            <a:ext cx="1554480" cy="59436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8" name="Text 16"/>
          <p:cNvSpPr/>
          <p:nvPr/>
        </p:nvSpPr>
        <p:spPr>
          <a:xfrm>
            <a:off x="5098315" y="2735904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028613" y="3655654"/>
            <a:ext cx="1554480" cy="5943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4028613" y="3655654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to dev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(max 3)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066544" y="171450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94A3B8"/>
                </a:solidFill>
              </a:rPr>
              <a:t>→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535424" y="171450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94A3B8"/>
                </a:solidFill>
              </a:rPr>
              <a:t>→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844284" y="172593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94A3B8"/>
                </a:solidFill>
              </a:rPr>
              <a:t>→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75304" y="23088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</a:rPr>
              <a:t>↓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712714" y="2289891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</a:rPr>
              <a:t>↓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560546" y="320818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EF4444"/>
                </a:solidFill>
              </a:rPr>
              <a:t>⟲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2500617" y="380254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to dev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1442" y="4244178"/>
            <a:ext cx="8229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9" name="Text 27"/>
          <p:cNvSpPr/>
          <p:nvPr/>
        </p:nvSpPr>
        <p:spPr>
          <a:xfrm>
            <a:off x="774322" y="421402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.devin/workflows/ci-pipeline.md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Invoke: </a:t>
            </a: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/ci-pipeline</a:t>
            </a: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dev → build → test  (fail → loop back to dev, max 3 retries)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1442" y="4732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On build or test failure, workflow loops back to dev for self-diagnosis, then re-runs build → test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— Model Context Protocol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protocol connecting AI to the outside world — like a USB-C port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286000" cy="1645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737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4B8A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/ LLM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/ Windsurf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/ Copilot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29000" y="1554480"/>
            <a:ext cx="2286000" cy="1645920"/>
          </a:xfrm>
          <a:prstGeom prst="rect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342900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29000" y="23774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Protocol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&amp; Invocation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1554480"/>
            <a:ext cx="256032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17373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Tools &amp; Services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0" y="21945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 · Git · DB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· Browser · API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43200" y="1920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14B8A6"/>
                </a:solidFill>
              </a:rPr>
              <a:t>⇄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715000" y="1920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14B8A6"/>
                </a:solidFill>
              </a:rPr>
              <a:t>⇄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MCP Servers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7200" y="3886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73736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read/write ops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83280" y="3886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/ Git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issue mgmt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09360" y="3886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/ SQLite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58952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queries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3616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Puppeteer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737360" y="43616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automation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383280" y="43616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/ REST API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63440" y="43616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 and API calls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09360" y="43616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/ K8s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589520" y="43616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management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 vs CE vs HE — Capability Comparison</a:t>
            </a:r>
            <a:endParaRPr lang="en-US" sz="3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0456" cy="2761488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Eng.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Eng.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Harness Eng.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Completion 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30-50%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60-80%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Quality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Fairly stable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Highly consistent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 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Curve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Medium-High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reusable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Team-shared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Org-level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6" name="Shape 3"/>
          <p:cNvSpPr/>
          <p:nvPr/>
        </p:nvSpPr>
        <p:spPr>
          <a:xfrm>
            <a:off x="457200" y="4114800"/>
            <a:ext cx="54864" cy="6400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41148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Engineering is not a replacement, but an evolution — building reusable tools and capability systems on top of PE and CE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8483"/>
            <a:ext cx="772084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Best Practices — Investment Pyramid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AI development system bottom-up, step by step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29000" y="3749040"/>
            <a:ext cx="2286000" cy="6400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3703320" y="3749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Rules: Set coding standards and project constraints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34640" y="2926080"/>
            <a:ext cx="3474720" cy="6400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2926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Skills: Encapsulate reusable expert agents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240280" y="2103120"/>
            <a:ext cx="4663440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2514600" y="21031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Workflows: Orchestrate multi-step automation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45920" y="1280160"/>
            <a:ext cx="5852160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 dirty="0"/>
          </a:p>
        </p:txBody>
      </p:sp>
      <p:sp>
        <p:nvSpPr>
          <p:cNvPr id="12" name="Text 10"/>
          <p:cNvSpPr/>
          <p:nvPr/>
        </p:nvSpPr>
        <p:spPr>
          <a:xfrm>
            <a:off x="1920240" y="12801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MCP: Connect external tools and data sources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480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4617720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46177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automate everything — keep human judgment at critical decision points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37560" y="4617720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3474720" y="46177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real pain points, not technology for its own sake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4617720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46177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Rules/Skills across the team to build organizational knowledge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914400"/>
            <a:ext cx="2743200" cy="2743200"/>
          </a:xfrm>
          <a:prstGeom prst="ellipse">
            <a:avLst/>
          </a:prstGeom>
          <a:solidFill>
            <a:srgbClr val="F59E0B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3200400"/>
            <a:ext cx="3200400" cy="3200400"/>
          </a:xfrm>
          <a:prstGeom prst="ellipse">
            <a:avLst/>
          </a:prstGeom>
          <a:solidFill>
            <a:srgbClr val="14B8A6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 matter where you are with AI today,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71600" y="1371600"/>
            <a:ext cx="6400800" cy="10972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Shape 4"/>
          <p:cNvSpPr/>
          <p:nvPr/>
        </p:nvSpPr>
        <p:spPr>
          <a:xfrm>
            <a:off x="1371600" y="1371600"/>
            <a:ext cx="54864" cy="10972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" name="Text 5"/>
          <p:cNvSpPr/>
          <p:nvPr/>
        </p:nvSpPr>
        <p:spPr>
          <a:xfrm>
            <a:off x="1645920" y="141732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now on, deeply integrate AI into your daily work.</a:t>
            </a:r>
            <a:endParaRPr lang="en-US" sz="1800" dirty="0"/>
          </a:p>
          <a:p>
            <a:pPr marL="0" indent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as a toy. Not as an afterthought. As a core part of how you engineer.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371600" y="2743200"/>
            <a:ext cx="6400800" cy="10972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9" name="Shape 7"/>
          <p:cNvSpPr/>
          <p:nvPr/>
        </p:nvSpPr>
        <p:spPr>
          <a:xfrm>
            <a:off x="1371600" y="2743200"/>
            <a:ext cx="54864" cy="1097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1645920" y="278892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Everyone's workflow is different. Share your best ideas.</a:t>
            </a:r>
            <a:endParaRPr lang="en-US" sz="1800" dirty="0"/>
          </a:p>
          <a:p>
            <a:pPr marL="0" indent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prompt, rule, or skill you think is "obvious" might be exactly what someone else needs.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2743200"/>
            <a:ext cx="4114800" cy="411480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0" y="109728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 &amp; A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3200400" y="2286000"/>
            <a:ext cx="2743200" cy="0"/>
          </a:xfrm>
          <a:prstGeom prst="line">
            <a:avLst/>
          </a:prstGeom>
          <a:noFill/>
          <a:ln w="3810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Prompt to Harness — AI is not just a tool, it's your engineering partner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building your Harness today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1084</Words>
  <Application>Microsoft Office PowerPoint</Application>
  <PresentationFormat>全屏显示(16:9)</PresentationFormat>
  <Paragraphs>279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Arial</vt:lpstr>
      <vt:lpstr>Arial Black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Tools 101: From Prompt to Harness Engineering</dc:title>
  <dc:subject>PptxGenJS Presentation</dc:subject>
  <dc:creator>AI Tools Intro</dc:creator>
  <cp:lastModifiedBy>Cooper Yuan</cp:lastModifiedBy>
  <cp:revision>9</cp:revision>
  <dcterms:created xsi:type="dcterms:W3CDTF">2026-06-10T17:53:37Z</dcterms:created>
  <dcterms:modified xsi:type="dcterms:W3CDTF">2026-06-10T18:02:44Z</dcterms:modified>
</cp:coreProperties>
</file>